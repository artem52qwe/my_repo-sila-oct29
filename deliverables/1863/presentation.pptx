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e57e4ac7947e2" /><Relationship Type="http://schemas.openxmlformats.org/officeDocument/2006/relationships/extended-properties" Target="/docProps/app.xml" Id="Rc244f4d098de4303" /><Relationship Type="http://schemas.openxmlformats.org/officeDocument/2006/relationships/officeDocument" Target="/ppt/presentation.xml" Id="Ra2bb661af2bc40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82faa8f46b4e71"/>
  </p:sldMasterIdLst>
  <p:notesMasterIdLst>
    <p:notesMasterId xmlns:r="http://schemas.openxmlformats.org/officeDocument/2006/relationships" r:id="Rb927fafee5ab47af"/>
  </p:notesMasterIdLst>
  <p:sldIdLst>
    <p:sldId xmlns:r="http://schemas.openxmlformats.org/officeDocument/2006/relationships" id="256" r:id="Ra49c36b30a5e49de"/>
    <p:sldId xmlns:r="http://schemas.openxmlformats.org/officeDocument/2006/relationships" id="257" r:id="R7e4371c7aa9a457b"/>
    <p:sldId xmlns:r="http://schemas.openxmlformats.org/officeDocument/2006/relationships" id="258" r:id="R4df8a798e9164974"/>
    <p:sldId xmlns:r="http://schemas.openxmlformats.org/officeDocument/2006/relationships" id="259" r:id="R595a0c66e9424163"/>
    <p:sldId xmlns:r="http://schemas.openxmlformats.org/officeDocument/2006/relationships" id="260" r:id="Rc5245700669242c5"/>
    <p:sldId xmlns:r="http://schemas.openxmlformats.org/officeDocument/2006/relationships" id="261" r:id="R5bb7847ba4b34f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eb5380a5234a12" /><Relationship Type="http://schemas.openxmlformats.org/officeDocument/2006/relationships/slideMaster" Target="/ppt/slideMasters/slideMaster1.xml" Id="R6e82faa8f46b4e71" /><Relationship Type="http://schemas.openxmlformats.org/officeDocument/2006/relationships/notesMaster" Target="/ppt/notesMasters/notesMaster1.xml" Id="Rb927fafee5ab47af" /><Relationship Type="http://schemas.openxmlformats.org/officeDocument/2006/relationships/presProps" Target="/ppt/presProps.xml" Id="R97c310494d5a4913" /><Relationship Type="http://schemas.openxmlformats.org/officeDocument/2006/relationships/tableStyles" Target="/ppt/tableStyles.xml" Id="Rc7d32fcefedc4a99" /><Relationship Type="http://schemas.openxmlformats.org/officeDocument/2006/relationships/slide" Target="/ppt/slides/slide1.xml" Id="Ra49c36b30a5e49de" /><Relationship Type="http://schemas.openxmlformats.org/officeDocument/2006/relationships/slide" Target="/ppt/slides/slide2.xml" Id="R7e4371c7aa9a457b" /><Relationship Type="http://schemas.openxmlformats.org/officeDocument/2006/relationships/slide" Target="/ppt/slides/slide3.xml" Id="R4df8a798e9164974" /><Relationship Type="http://schemas.openxmlformats.org/officeDocument/2006/relationships/slide" Target="/ppt/slides/slide4.xml" Id="R595a0c66e9424163" /><Relationship Type="http://schemas.openxmlformats.org/officeDocument/2006/relationships/slide" Target="/ppt/slides/slide5.xml" Id="Rc5245700669242c5" /><Relationship Type="http://schemas.openxmlformats.org/officeDocument/2006/relationships/slide" Target="/ppt/slides/slide6.xml" Id="R5bb7847ba4b34f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3889ba30a4e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3870049ffc4fab" /><Relationship Type="http://schemas.openxmlformats.org/officeDocument/2006/relationships/notesMaster" Target="/ppt/notesMasters/notesMaster1.xml" Id="R4cfe932fdf1b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c0151e34c4f1c" /><Relationship Type="http://schemas.openxmlformats.org/officeDocument/2006/relationships/notesMaster" Target="/ppt/notesMasters/notesMaster1.xml" Id="Raa88c030ec7741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5080c655f04c72" /><Relationship Type="http://schemas.openxmlformats.org/officeDocument/2006/relationships/notesMaster" Target="/ppt/notesMasters/notesMaster1.xml" Id="Rd8e8450cd17a42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1d1bb27d346a7" /><Relationship Type="http://schemas.openxmlformats.org/officeDocument/2006/relationships/notesMaster" Target="/ppt/notesMasters/notesMaster1.xml" Id="R1214ce32cc5744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dda25510944652" /><Relationship Type="http://schemas.openxmlformats.org/officeDocument/2006/relationships/notesMaster" Target="/ppt/notesMasters/notesMaster1.xml" Id="R0dcbf251c7a043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21dac719b547ea" /><Relationship Type="http://schemas.openxmlformats.org/officeDocument/2006/relationships/notesMaster" Target="/ppt/notesMasters/notesMaster1.xml" Id="R2990e03ca13748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модель команды: 5 разработчиков, 2 QA, 1 менеджер. Источники: https://scrumguides.org/scrum-guide.html и https://kanbanguides.org/the-kanban-guide. Плановые сроки и правила предложены автором, фактические встречи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b3b506eec4c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d223544724d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05fb3fc1f43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4cb8b70d44a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549f521724e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a826e6ad54a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0B4285-3E5D-469D-A882-841E5D052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E9AAE2-A15A-4E08-9FE3-F3A1E8DC31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E0B8BF-8904-40ED-8D2D-A026C7C548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837E0-24BA-437A-81B7-AE9F06F50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D36785-9703-47D0-AB42-C8271FB2B1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D4DEC6-FD37-4A31-A5E2-2F8F27D4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CEDBF8-507D-4B38-91A7-06E7417009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215500-47EF-4D86-91EF-0DE72EEC00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BFD599-DE20-4309-B85F-BF3584072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3881AC-049B-4306-BB3A-47027D91E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d260ebaab40b3" /><Relationship Type="http://schemas.openxmlformats.org/officeDocument/2006/relationships/slideLayout" Target="/ppt/slideLayouts/slideLayout1.xml" Id="Rc295d6f6c87945a7" /><Relationship Type="http://schemas.openxmlformats.org/officeDocument/2006/relationships/slideLayout" Target="/ppt/slideLayouts/slideLayout2.xml" Id="Rdd5e5729f0a74388" /><Relationship Type="http://schemas.openxmlformats.org/officeDocument/2006/relationships/slideLayout" Target="/ppt/slideLayouts/slideLayout3.xml" Id="R33ea9ce6074d452f" /><Relationship Type="http://schemas.openxmlformats.org/officeDocument/2006/relationships/slideLayout" Target="/ppt/slideLayouts/slideLayout4.xml" Id="R0cce6eb8db964609" /><Relationship Type="http://schemas.openxmlformats.org/officeDocument/2006/relationships/slideLayout" Target="/ppt/slideLayouts/slideLayout5.xml" Id="R94f79334f8054d35" /><Relationship Type="http://schemas.openxmlformats.org/officeDocument/2006/relationships/slideLayout" Target="/ppt/slideLayouts/slideLayout6.xml" Id="R9223914f8a08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95d6f6c87945a7"/>
    <p:sldLayoutId xmlns:r="http://schemas.openxmlformats.org/officeDocument/2006/relationships" id="2147483650" r:id="Rdd5e5729f0a74388"/>
    <p:sldLayoutId xmlns:r="http://schemas.openxmlformats.org/officeDocument/2006/relationships" id="2147483651" r:id="R33ea9ce6074d452f"/>
    <p:sldLayoutId xmlns:r="http://schemas.openxmlformats.org/officeDocument/2006/relationships" id="2147483652" r:id="R0cce6eb8db964609"/>
    <p:sldLayoutId xmlns:r="http://schemas.openxmlformats.org/officeDocument/2006/relationships" id="2147483653" r:id="R94f79334f8054d35"/>
    <p:sldLayoutId xmlns:r="http://schemas.openxmlformats.org/officeDocument/2006/relationships" id="2147483654" r:id="R9223914f8a08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426c805354536" /><Relationship Type="http://schemas.openxmlformats.org/officeDocument/2006/relationships/notesSlide" Target="/ppt/notesSlides/notesSlide1.xml" Id="Re76430e55648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35e5b994b44cb" /><Relationship Type="http://schemas.openxmlformats.org/officeDocument/2006/relationships/notesSlide" Target="/ppt/notesSlides/notesSlide2.xml" Id="R078976c1971245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cc997b7aa4707" /><Relationship Type="http://schemas.openxmlformats.org/officeDocument/2006/relationships/notesSlide" Target="/ppt/notesSlides/notesSlide3.xml" Id="Rb2e7b1523bef42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82095e7a54544" /><Relationship Type="http://schemas.openxmlformats.org/officeDocument/2006/relationships/notesSlide" Target="/ppt/notesSlides/notesSlide4.xml" Id="Rc9da8f28fa344b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95fd2f026c4c71" /><Relationship Type="http://schemas.openxmlformats.org/officeDocument/2006/relationships/notesSlide" Target="/ppt/notesSlides/notesSlide5.xml" Id="R17d144f27d6c4f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d60fda0144192" /><Relationship Type="http://schemas.openxmlformats.org/officeDocument/2006/relationships/notesSlide" Target="/ppt/notesSlides/notesSlide6.xml" Id="Rbf8c5865af274b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D8517-A312-48BB-BBD9-4B2AC4D0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5A77"/>
                </a:solidFill>
                <a:latin typeface="Arial"/>
                <a:ea typeface="Arial"/>
                <a:cs typeface="Arial"/>
              </a:rPr>
              <a:t>Команда сервиса ремонтных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5CFC-706F-40C6-955F-236B49F6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380E0-C8DF-41A7-836B-8D76FB2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Чупашов Артём</a:t>
            </a:r>
          </a:p>
          <a:p xmlns:a="http://schemas.openxmlformats.org/drawingml/2006/main">
            <a:pPr>
              <a:defRPr sz="25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Задание 1863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1C8C8-6400-47EF-AA88-7B7DBC81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8 участников</a:t>
            </a:r>
          </a:p>
          <a:p xmlns:a="http://schemas.openxmlformats.org/drawingml/2006/main">
            <a:pPr>
              <a:defRPr sz="25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5 разработчиков · 2 тестировщика · 1 менеджер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AD217-F4D7-4E45-9A1A-2BAD4D6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Двухнедельные итерации для согласованной цели</a:t>
            </a:r>
          </a:p>
        </p:txBody>
      </p:sp>
    </p:spTree>
    <p:extLst>
      <p:ext uri="{BB962C8B-B14F-4D97-AF65-F5344CB8AC3E}">
        <p14:creationId xmlns:p14="http://schemas.microsoft.com/office/powerpoint/2010/main" val="1304932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3B6B2-2F54-4729-9940-2A08724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5A77"/>
                </a:solidFill>
                <a:latin typeface="Arial"/>
                <a:ea typeface="Arial"/>
                <a:cs typeface="Arial"/>
              </a:rPr>
              <a:t>Распределение ответственности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26062-CF91-403F-A113-0D176230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E56AD-089B-433E-AE64-A3694AAB638A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Участники</a:t>
                      </a:r>
                    </a:p>
                  </a:txBody>
                  <a:tcPr marL="91440" marR="91440" marT="45720" marB="45720">
                    <a:solidFill>
                      <a:srgbClr val="245A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245A7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D1–D3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Архитектура, правила, данные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D4–D5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Интерфейс, интеграции, 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Q1–Q2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Приёмка, регрессия, нагрузка</a:t>
                      </a:r>
                    </a:p>
                  </a:txBody>
                  <a:tcPr marL="91440" marR="91440" marT="45720" marB="45720">
                    <a:solidFill>
                      <a:srgbClr val="EF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4364B"/>
                          </a:solidFill>
                          <a:latin typeface="Arial"/>
                          <a:ea typeface="Arial"/>
                          <a:cs typeface="Arial"/>
                        </a:rPr>
                        <a:t>Приоритеты, сроки и риски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921CB-8ED3-4033-B76E-B5D554B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D1 совмещает разработку с координацией. Девятого участника нет.</a:t>
            </a:r>
          </a:p>
        </p:txBody>
      </p:sp>
    </p:spTree>
    <p:extLst>
      <p:ext uri="{BB962C8B-B14F-4D97-AF65-F5344CB8AC3E}">
        <p14:creationId xmlns:p14="http://schemas.microsoft.com/office/powerpoint/2010/main" val="1805203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AC38E-905A-41EB-9984-D3B99B85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5A77"/>
                </a:solidFill>
                <a:latin typeface="Arial"/>
                <a:ea typeface="Arial"/>
                <a:cs typeface="Arial"/>
              </a:rPr>
              <a:t>Доводим сквозной сценарий до приёмки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D2A65-F82E-4937-9472-8BFA3AF8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86978-FFCA-463D-B091-7108EA1B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245A7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70C85-0F8B-43C7-8810-F899BB61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63F2F-16C4-4078-AE53-A46299B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245A7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70574-D4DE-40A8-9D42-E0E74F40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F80AF-111F-4AC0-9AD2-3068124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245A7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E8696-9194-4FC5-A39D-2DDB1FE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E00FC-A277-4C5A-96F1-83135E66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245A7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A46D-2E11-4E4F-BD91-55AFFDF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2C83A-786D-4B38-AF28-D98AB2BC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71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9525">
            <a:solidFill>
              <a:srgbClr val="245A77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24364B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53BFC-9A0F-409A-8FEA-27F194D7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Планирование → цель на 2 недели → демонстрация</a:t>
            </a:r>
          </a:p>
          <a:p xmlns:a="http://schemas.openxmlformats.org/drawingml/2006/main">
            <a:pPr>
              <a:defRPr sz="22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После демонстрации проводим ретроспективу.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406D1-E207-4322-B159-6BA573C0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Дефект возвращается в разработку с примером.</a:t>
            </a:r>
          </a:p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Изменение требования возвращается на оценку в backlog.</a:t>
            </a:r>
          </a:p>
        </p:txBody>
      </p:sp>
    </p:spTree>
    <p:extLst>
      <p:ext uri="{BB962C8B-B14F-4D97-AF65-F5344CB8AC3E}">
        <p14:creationId xmlns:p14="http://schemas.microsoft.com/office/powerpoint/2010/main" val="1608721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67762-C267-47A2-8CDA-55C35ECF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5A77"/>
                </a:solidFill>
                <a:latin typeface="Arial"/>
                <a:ea typeface="Arial"/>
                <a:cs typeface="Arial"/>
              </a:rPr>
              <a:t>Коммуникации и календарь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548F0-EF43-4109-8A8C-955D94C3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B113E-9549-4647-B62C-39F175E8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108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Ежедневно, 15 минут: препятствия и следующий шаг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Дважды в неделю: уточнение небольших карточек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 в 2 недели: демонстрация и обратная связь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После демонстрации: одно улучшение процесса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Еженедельно: риски, зависимости и корректировка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43ED8-BC3C-4873-930C-D3A053F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Решения сохраняем в задачах и ADR.</a:t>
            </a:r>
          </a:p>
          <a:p xmlns:a="http://schemas.openxmlformats.org/drawingml/2006/main">
            <a:pPr>
              <a:defRPr sz="20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Внешние уведомления заменены локальным журналом.</a:t>
            </a:r>
          </a:p>
        </p:txBody>
      </p:sp>
    </p:spTree>
    <p:extLst>
      <p:ext uri="{BB962C8B-B14F-4D97-AF65-F5344CB8AC3E}">
        <p14:creationId xmlns:p14="http://schemas.microsoft.com/office/powerpoint/2010/main" val="278928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EAA8B-06CC-4372-A456-6FAA754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5A77"/>
                </a:solidFill>
                <a:latin typeface="Arial"/>
                <a:ea typeface="Arial"/>
                <a:cs typeface="Arial"/>
              </a:rPr>
              <a:t>Git, проверка и разрешение конфликтов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CED2D-5A10-4071-8534-9EADE316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CDB9F-0017-4697-ABAC-1F3F021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Короткая ветка → PR → независимый review → CI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Автор не принимает собственное изменение.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Конфликт: обновить ветку, согласовать смысл, повторить тесты.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Done: код, review, тесты, документация и приёмка.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17819-D3FD-4837-B1EE-2689B2EA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Спор: записать варианты, ограничить обсуждение,</a:t>
            </a:r>
          </a:p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проверить гипотезу небольшим экспериментом.</a:t>
            </a:r>
          </a:p>
          <a:p xmlns:a="http://schemas.openxmlformats.org/drawingml/2006/main">
            <a:pPr>
              <a:defRPr sz="21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D1 отвечает за техрешение, M согласует приоритет.</a:t>
            </a:r>
          </a:p>
        </p:txBody>
      </p:sp>
    </p:spTree>
    <p:extLst>
      <p:ext uri="{BB962C8B-B14F-4D97-AF65-F5344CB8AC3E}">
        <p14:creationId xmlns:p14="http://schemas.microsoft.com/office/powerpoint/2010/main" val="328751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2CA6C-39CC-4313-A7EF-73AE667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45A7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5A77"/>
                </a:solidFill>
                <a:latin typeface="Arial"/>
                <a:ea typeface="Arial"/>
                <a:cs typeface="Arial"/>
              </a:rPr>
              <a:t>План и критерии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4CE6C-B2E3-4AA2-8D7E-2C00F52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DC575-B6B1-4773-A6C2-82AF6B78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Недели 1–2: модель, контракт, первый сценарий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Недели 3–4: основные правила и ошибки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Недели 5–6: интеграция, восстановление, приёмка</a:t>
            </a:r>
          </a:p>
          <a:p xmlns:a="http://schemas.openxmlformats.org/drawingml/2006/main">
            <a:pPr>
              <a:defRPr sz="23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Контроль: возраст задач, cycle time, возвраты и дефекты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07728-92B7-414A-AE8F-72B2597A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Это учебный план. Выполнение и эффект ещё не измерялись.</a:t>
            </a:r>
          </a:p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Источники: Scrum Guide и The Kanban Guide.</a:t>
            </a:r>
          </a:p>
          <a:p xmlns:a="http://schemas.openxmlformats.org/drawingml/2006/main">
            <a:pPr>
              <a:defRPr sz="19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Полные ссылки и RACI приведены в письменном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1406052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2026-10-29T18:23:34.7050000Z</dcterms:created>
  <dcterms:modified xsi:type="dcterms:W3CDTF">2026-10-29T18:23:34.7050000Z</dcterms:modified>
</coreProperties>
</file>